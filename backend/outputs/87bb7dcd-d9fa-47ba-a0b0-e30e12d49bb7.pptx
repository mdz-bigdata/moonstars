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大数据湖流一体架构：构建企业级实时数据平台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2563EB"/>
                </a:solidFill>
              </a:defRPr>
            </a:pPr>
            <a:r>
              <a:t>从数据孤岛到智能洞察：技术架构、核心流程与最佳实践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封面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大数据湖流一体架构：构建企业级实时数据平台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从数据孤岛到智能洞察：技术架构、核心流程与最佳实践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主讲人：[您的姓名/部门]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日期：[当前日期]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议程与目标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理解大数据湖与数据流技术的演进与融合趋势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掌握湖流一体架构的核心设计原则与关键组件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剖析典型技术架构图与数据流转流程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探讨实施路径、挑战与最佳实践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展望未来发展方向与战略价值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第一部分：背景与趋势——为何需要湖流一体？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传统数据仓库与早期数据湖面临实时性不足的挑战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纯流处理架构难以应对海量历史数据的复杂分析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业务对实时决策（如风控、推荐）与历史深度分析（如用户画像）的需求并存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Gartner预测：到2025年，70%的新应用将采用流式分析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技术融合趋势：Apache Iceberg/Hudi/Delta Lake 与 Apache Flink/Kafka 的深度集成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数据范式的演进：从批到流再到一体化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1E293B"/>
                </a:solidFill>
              </a:defRPr>
            </a:pPr>
            <a:r>
              <a:t>Lambda架构：批流分离，维护复杂，数据一致性挑战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Kappa架构：一切皆流，但对历史数据回溯和复杂分析支持有限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湖流一体架构：统一存储（数据湖）与统一处理（流批一体）的完美结合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核心优势：简化架构、保证数据一致性、降低运维成本、支持全场景分析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代表案例：Netflix、Uber、字节跳动等互联网巨头已大规模采用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228795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第二部分：核心架构解析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湖流一体架构的四大核心支柱：统一存储、统一计算、统一元数据、统一服务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存储层：以开放表格式（Apache Iceberg等）为核心的数据湖，支持ACID事务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计算层：流批一体处理引擎（如Apache Flink）作为核心处理器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元数据层：统一的Catalog服务，实现表、分区、schema的全局管理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服务层：统一的SQL网关、数据目录和API，提供一致的数据访问体验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统一存储层：开放表格式详解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Apache Iceberg：Netflix开源，专注于高性能、可扩展的表格式，ACID支持完善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Apache Hudi：Uber开源，强调增量处理与快速Upsert，适用于CDC场景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Delta Lake：Databricks开源，深度集成Spark生态，提供时间旅行功能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核心共性：基于Parquet/ORC/Avro文件，提供事务、模式演进、分区演进能力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选型考量：社区生态、与计算引擎的集成度、云厂商支持、特定功能需求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统一计算层：流批一体引擎（以Apache Flink为例）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Flink核心优势：低延迟、高吞吐、Exactly-Once语义、丰富的状态管理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流批一体API：DataStream API与Table API/SQL的统一，同一套代码处理流与批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核心概念：有状态计算、事件时间、水印、窗口、检查点与保存点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与存储层集成：通过Connector（如Flink CDC）和Format（如Iceberg Sink）无缝写入数据湖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生态扩展：与Paimon（流式数据湖存储）等项目的集成，进一步深化流批一体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典型数据流入湖流程（CDC场景）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1E293B"/>
                </a:solidFill>
              </a:defRPr>
            </a:pPr>
            <a:r>
              <a:t>源端变更数据捕获：使用Debezium、Flink CDC等工具捕获数据库binlog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实时消息队列：变更数据发布到Apache Kafka，作为缓冲与分发层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流处理与ETL：Flink消费Kafka数据，进行清洗、转换、关联等实时处理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写入数据湖：处理后的数据通过Iceberg Sink等以流式方式写入湖中表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触发下游应用：数据入湖后，可触发元数据更新、文件压缩或下游分析作业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772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数据从湖中消费与分析流程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交互式查询：使用Trino/Presto、Spark SQL等引擎对湖中数据进行亚秒级到秒级查询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批处理分析：运行复杂的Spark作业进行数据挖掘、报表生成与模型训练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增量读取：下游流作业通过Iceberg的增量扫描功能，消费湖中新增数据，形成流式链路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数据服务化：通过数据服务API或数据虚拟化层，将湖中数据安全地暴露给业务应用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形成闭环：分析结果可再次写回数据湖，或用于实时特征更新，赋能实时智能应用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第三部分：关键技术组件与选型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消息队列：Apache Kafka（主流）、Apache Pulsar（云原生、多租户）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流处理引擎：Apache Flink（事实标准）、Apache Spark Structured Streaming（Spark生态内）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开放表格式：Apache Iceberg（通用性强）、Apache Hudi（更新密集）、Delta Lake（Spark深度绑定）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查询引擎：Trino/Presto（交互式查询）、Apache Druid（实时OLAP）、ClickHouse（宽表分析）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元数据与治理：Apache Atlas、DataHub、Amundsen，用于数据血缘、质量与发现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云原生湖流一体架构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存储分离：计算与存储解耦，利用对象存储（如AWS S3，Azure Blob，OSS）的无限扩展性与低成本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弹性计算：采用Kubernetes部署Flink、Trino等计算引擎，实现资源的弹性伸缩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Serverless化：使用云厂商的Serverless服务（如AWS Glue, Azure Synapse, Google BigQuery）简化运维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托管服务：直接采用云厂商的湖仓一体方案（如Databricks on AWS, Snowflake）加速落地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优势：降低运维负担、按需付费、全球高可用、与云上其他服务无缝集成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第四部分：实施路径与挑战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阶段一：评估与规划——明确业务场景、数据现状、技术选型与团队技能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阶段二：试点与验证——选择1-2个关键业务流，搭建最小可行架构（MVP）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阶段三：推广与扩展——将成功模式复制到更多业务线，建立数据治理体系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阶段四：优化与创新——持续进行性能调优、成本优化，并探索AI/ML等创新应用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关键成功因素：高层支持、跨部门协作、人才储备、迭代式推进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主要挑战与应对策略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挑战一：数据质量与一致性——实施端到端的数据质量监控和Schema演进管理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挑战二：计算与存储成本——采用数据分层（热、温、冷）、压缩优化和自动缩放策略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挑战三：运维复杂度——推进平台化、自动化运维，并加强监控告警体系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挑战四：人才短缺——建立内部培训体系，并与社区、厂商合作引入外部专家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挑战五：组织与文化——推动数据驱动的文化，建立跨职能的数据团队（Data Mesh理念）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性能优化最佳实践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存储优化：合理设计分区（按时间、业务键），使用Z-Order等多维聚类，定期小文件合并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查询优化：利用物化视图/预聚合表加速常见查询，收集并利用表统计信息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计算优化：为Flink作业合理配置并行度、状态后端与检查点间隔；利用动态表与维表关联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缓存策略：在查询引擎层使用分布式缓存（如Alluxio）加速热点数据读取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监控与调优：建立全面的性能指标监控（P99延迟、吞吐量、资源利用率），持续迭代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第五部分：行业应用案例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电商实时推荐：用户行为日志实时入湖，流作业实时计算特征，批作业每日更新模型，湖中统一服务提供特征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金融风控：交易数据实时流式入湖，结合历史行为画像，在Flink中运行实时规则引擎进行毫秒级风险拦截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物联网设备监控：海量设备时序数据写入Kafka，由Flink实时聚合异常指标并写入湖中，供历史趋势分析与预测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媒体内容分析：视频播放日志实时处理，计算实时热度榜，同时入湖供内容团队进行深度用户分群与内容策略分析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案例启示：湖流一体是支撑实时智能业务的基石，实现了数据价值挖掘的闭环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第六部分：未来趋势展望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趋势一：AI/ML与数据平台的深度集成——特征存储、模型训练与部署的流水线自动化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趋势二：数据网格（Data Mesh）的实践——域导向的数据所有权与自助式数据平台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趋势三：实时数据仓库的演进——湖流一体架构向更智能、更自动化的实时数仓演进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趋势四：开源与商业的融合——开源项目与商业产品提供更完善的企业级功能与服务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趋势五：绿色计算与可持续发展——关注数据处理的能效，优化资源利用以降低成本与碳足迹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总结：湖流一体的核心价值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简化架构：统一技术栈，告别Lambda等复杂架构，降低开发和运维成本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数据一致：保证流批处理结果的一致性，提供可靠的“单一事实来源”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实时智能：同时满足低延迟实时决策与海量历史数据深度分析的需求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敏捷灵活：支持快速的数据探索、模式演进和业务创新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面向未来：为AI/ML、数据产品化等高级应用奠定坚实的数据基础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行动建议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立即行动：对现有数据架构进行评估，识别对实时能力需求最迫切的业务场景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小步快跑：启动一个可控的试点项目，验证湖流一体架构的技术可行性与业务价值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培养团队：投资于团队在大数据、流计算和云原生技术方面的技能提升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生态合作：积极拥抱开源社区，并考虑与成熟的商业解决方案提供商合作以降低风险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持续演进：将数据平台视为产品，持续收集用户反馈，迭代优化，最大化数据资产价值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感谢聆听！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现在进入问答环节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欢迎提出任何关于大数据湖流一体架构的问题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以上为本次演示的核心内容总结。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谢谢观看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如有任何问题，欢迎随时沟通！</a:t>
            </a:r>
          </a:p>
          <a:p/>
          <a:p>
            <a:r>
              <a:t>Q&amp;A / 联系方式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